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 Vietnam Ultra-Bold" charset="1" panose="00000900000000000000"/>
      <p:regular r:id="rId20"/>
    </p:embeddedFont>
    <p:embeddedFont>
      <p:font typeface="Montserrat Bold" charset="1" panose="00000800000000000000"/>
      <p:regular r:id="rId21"/>
    </p:embeddedFont>
    <p:embeddedFont>
      <p:font typeface="Be Vietnam" charset="1" panose="00000500000000000000"/>
      <p:regular r:id="rId22"/>
    </p:embeddedFont>
    <p:embeddedFont>
      <p:font typeface="League Spartan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826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1428750"/>
            <a:ext cx="114300" cy="6191250"/>
            <a:chOff x="0" y="0"/>
            <a:chExt cx="1524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8250" y="781050"/>
            <a:ext cx="11430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BỘ GIÁO DỤC VÀ ĐÀO TẠO  ·  ĐẠI HỌC NGUYỄN TẤT THÀNH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VIỆN ĐÀO TẠO QUỐC TẾ  NIIE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0" y="2071508"/>
            <a:ext cx="13811250" cy="205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ỨNG DỤNG AGILE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VÀO XÂY DỰNG WEBSITE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BÁN VÉ XEM PHIM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67362" y="9220200"/>
            <a:ext cx="33919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TP. HỒ CHÍ MINH  ·  06.2026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8250" y="4302630"/>
            <a:ext cx="10194962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Giảng viên hướng dẫn: TS Trần Sơn Hải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Nhóm sinh viên thực hiện (Nhóm 9):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Trần Phan Minh Thuận – 2311553791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Phạm Thị Ngọc Trâm – 2311559516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Phạm Văn Thư – 2311553334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Phạm Thanh Tài – 2311553867</a:t>
            </a:r>
          </a:p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Mã lớp học phần: 23BITV01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571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  /  BỐI CẢNH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109537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Một ghế. Hai người giữ.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Một trải nghiệm bị phá vỡ.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572000"/>
            <a:ext cx="7239000" cy="1428750"/>
            <a:chOff x="0" y="0"/>
            <a:chExt cx="9652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65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4500" y="4572000"/>
            <a:ext cx="8039100" cy="1428750"/>
            <a:chOff x="0" y="0"/>
            <a:chExt cx="107188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188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718800">
                  <a:moveTo>
                    <a:pt x="0" y="0"/>
                  </a:moveTo>
                  <a:lnTo>
                    <a:pt x="10718800" y="0"/>
                  </a:lnTo>
                  <a:lnTo>
                    <a:pt x="107188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188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43000" y="4876800"/>
            <a:ext cx="61912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Nhu cầu đặt vé trực tuyến tăng mạnh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0" y="4876800"/>
            <a:ext cx="68580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Lưu lượng dịp lễ và bom tấn tăng đột biến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476750" y="6191250"/>
            <a:ext cx="2762250" cy="1047750"/>
          </a:xfrm>
          <a:prstGeom prst="line">
            <a:avLst/>
          </a:prstGeom>
          <a:ln cap="flat" w="47625">
            <a:solidFill>
              <a:srgbClr val="FF6B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1049000" y="6191250"/>
            <a:ext cx="2762250" cy="1047750"/>
          </a:xfrm>
          <a:prstGeom prst="line">
            <a:avLst/>
          </a:prstGeom>
          <a:ln cap="flat" w="47625">
            <a:solidFill>
              <a:srgbClr val="FF6B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191250" y="6848475"/>
            <a:ext cx="59055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true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Race Condition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29250" y="7877175"/>
            <a:ext cx="7429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Giữ ghế trùng lặp → sai lệch → hoàn tiền thủ công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LÝ DO CHỌN ĐỀ TÀI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  /  MỤC TIÊU &amp; PHẠM 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28750"/>
            <a:ext cx="85725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Từ quy trình linh hoạt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đến giao dịch an toàn.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0" y="1428750"/>
            <a:ext cx="3543300" cy="2762250"/>
            <a:chOff x="0" y="0"/>
            <a:chExt cx="4724400" cy="368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699000" cy="3683000"/>
              <a:chOff x="0" y="0"/>
              <a:chExt cx="4699000" cy="368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699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699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06400" y="4064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SCRUM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1304925"/>
              <a:ext cx="4318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Sprint Planning · Daily · Review · Retro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30250" y="1428750"/>
            <a:ext cx="3543300" cy="2762250"/>
            <a:chOff x="0" y="0"/>
            <a:chExt cx="47244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699000" cy="3683000"/>
              <a:chOff x="0" y="0"/>
              <a:chExt cx="4699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99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0818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699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64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THỜI GIAN THỰC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04925"/>
              <a:ext cx="4318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Redis Lock · WebSocket · giữ ghế 5 phút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0" y="4762500"/>
            <a:ext cx="3543300" cy="2762250"/>
            <a:chOff x="0" y="0"/>
            <a:chExt cx="4724400" cy="368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699000" cy="3683000"/>
              <a:chOff x="0" y="0"/>
              <a:chExt cx="4699000" cy="368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699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699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06400" y="4064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THANH TOÁN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06400" y="1304925"/>
              <a:ext cx="4318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MoMo · VNPay · vé QR tự động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30250" y="4762500"/>
            <a:ext cx="3543300" cy="2762250"/>
            <a:chOff x="0" y="0"/>
            <a:chExt cx="4724400" cy="3683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699000" cy="3683000"/>
              <a:chOff x="0" y="0"/>
              <a:chExt cx="4699000" cy="3683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99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699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06400" y="4064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PHẠM VI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06400" y="1304925"/>
              <a:ext cx="4318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Trải nghiệm khách hàng trong một học kỳ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MỤC TIÊU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  /  AGILE &amp; 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76375"/>
            <a:ext cx="80962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Giao sớm. Học nhanh.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Cải tiến liên tục.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4067175"/>
            <a:ext cx="66675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Sprint 2 tuần giúp nhóm biến phản hồi thành sản phẩm chạy được — thay vì chờ đến cuối kỳ mới kiểm chứng.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6534150"/>
            <a:ext cx="723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D6A2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SPRINT 1  →  chọn ghế + đếm ngược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858625" y="1952625"/>
            <a:ext cx="2190750" cy="1047750"/>
            <a:chOff x="0" y="0"/>
            <a:chExt cx="2921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308652"/>
                  </a:lnTo>
                  <a:cubicBezTo>
                    <a:pt x="2921000" y="1357445"/>
                    <a:pt x="2881445" y="1397000"/>
                    <a:pt x="2832652" y="1397000"/>
                  </a:cubicBezTo>
                  <a:lnTo>
                    <a:pt x="88348" y="1397000"/>
                  </a:lnTo>
                  <a:cubicBezTo>
                    <a:pt x="39555" y="1397000"/>
                    <a:pt x="0" y="1357445"/>
                    <a:pt x="0" y="13086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2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PLAN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3716000" y="3048000"/>
            <a:ext cx="952500" cy="1333500"/>
          </a:xfrm>
          <a:prstGeom prst="line">
            <a:avLst/>
          </a:prstGeom>
          <a:ln cap="flat" w="28575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335125" y="4429125"/>
            <a:ext cx="2190750" cy="1047750"/>
            <a:chOff x="0" y="0"/>
            <a:chExt cx="2921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308652"/>
                  </a:lnTo>
                  <a:cubicBezTo>
                    <a:pt x="2921000" y="1357445"/>
                    <a:pt x="2881445" y="1397000"/>
                    <a:pt x="2832652" y="1397000"/>
                  </a:cubicBezTo>
                  <a:lnTo>
                    <a:pt x="88348" y="1397000"/>
                  </a:lnTo>
                  <a:cubicBezTo>
                    <a:pt x="39555" y="1397000"/>
                    <a:pt x="0" y="1357445"/>
                    <a:pt x="0" y="13086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2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BUILD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12192000" y="5524500"/>
            <a:ext cx="4000500" cy="1333500"/>
          </a:xfrm>
          <a:prstGeom prst="line">
            <a:avLst/>
          </a:prstGeom>
          <a:ln cap="flat" w="28575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858625" y="6905625"/>
            <a:ext cx="2190750" cy="1047750"/>
            <a:chOff x="0" y="0"/>
            <a:chExt cx="2921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308652"/>
                  </a:lnTo>
                  <a:cubicBezTo>
                    <a:pt x="2921000" y="1357445"/>
                    <a:pt x="2881445" y="1397000"/>
                    <a:pt x="2832652" y="1397000"/>
                  </a:cubicBezTo>
                  <a:lnTo>
                    <a:pt x="88348" y="1397000"/>
                  </a:lnTo>
                  <a:cubicBezTo>
                    <a:pt x="39555" y="1397000"/>
                    <a:pt x="0" y="1357445"/>
                    <a:pt x="0" y="13086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92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REVIEW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9715500" y="4381500"/>
            <a:ext cx="4000500" cy="3619500"/>
          </a:xfrm>
          <a:prstGeom prst="line">
            <a:avLst/>
          </a:prstGeom>
          <a:ln cap="flat" w="28575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382125" y="4429125"/>
            <a:ext cx="2190750" cy="1047750"/>
            <a:chOff x="0" y="0"/>
            <a:chExt cx="2921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9210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308652"/>
                  </a:lnTo>
                  <a:cubicBezTo>
                    <a:pt x="2921000" y="1357445"/>
                    <a:pt x="2881445" y="1397000"/>
                    <a:pt x="2832652" y="1397000"/>
                  </a:cubicBezTo>
                  <a:lnTo>
                    <a:pt x="88348" y="1397000"/>
                  </a:lnTo>
                  <a:cubicBezTo>
                    <a:pt x="39555" y="1397000"/>
                    <a:pt x="0" y="1357445"/>
                    <a:pt x="0" y="13086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92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RETRO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239500" y="8820150"/>
            <a:ext cx="3429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TRELLO  +  DISCORD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EBAC2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SCRUM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  /  GIẢI PHÁP CỐT LÕI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90487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Một ghế chỉ có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một chủ sở hữu tạm thời.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3686175"/>
            <a:ext cx="72390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Redis Distributed Lock đặt TTL 5 phút; WebSocket phát trạng thái mới cho mọi phiên đang xem.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" y="6572250"/>
            <a:ext cx="2381250" cy="1285875"/>
            <a:chOff x="0" y="0"/>
            <a:chExt cx="3175000" cy="1714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633220"/>
                  </a:lnTo>
                  <a:cubicBezTo>
                    <a:pt x="3175000" y="1654777"/>
                    <a:pt x="3166437" y="1675451"/>
                    <a:pt x="3151194" y="1690694"/>
                  </a:cubicBezTo>
                  <a:cubicBezTo>
                    <a:pt x="3135951" y="1705937"/>
                    <a:pt x="3115277" y="1714500"/>
                    <a:pt x="3093720" y="1714500"/>
                  </a:cubicBezTo>
                  <a:lnTo>
                    <a:pt x="81280" y="1714500"/>
                  </a:lnTo>
                  <a:cubicBezTo>
                    <a:pt x="59723" y="1714500"/>
                    <a:pt x="39049" y="1705937"/>
                    <a:pt x="23806" y="1690694"/>
                  </a:cubicBezTo>
                  <a:cubicBezTo>
                    <a:pt x="8563" y="1675451"/>
                    <a:pt x="0" y="1654777"/>
                    <a:pt x="0" y="16332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NGƯỜI DÙNG A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333750" y="7219950"/>
            <a:ext cx="2095500" cy="0"/>
          </a:xfrm>
          <a:prstGeom prst="line">
            <a:avLst/>
          </a:prstGeom>
          <a:ln cap="flat" w="47625">
            <a:solidFill>
              <a:srgbClr val="FF6B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619750" y="6572250"/>
            <a:ext cx="2381250" cy="1285875"/>
            <a:chOff x="0" y="0"/>
            <a:chExt cx="3175000" cy="1714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633220"/>
                  </a:lnTo>
                  <a:cubicBezTo>
                    <a:pt x="3175000" y="1654777"/>
                    <a:pt x="3166437" y="1675451"/>
                    <a:pt x="3151194" y="1690694"/>
                  </a:cubicBezTo>
                  <a:cubicBezTo>
                    <a:pt x="3135951" y="1705937"/>
                    <a:pt x="3115277" y="1714500"/>
                    <a:pt x="3093720" y="1714500"/>
                  </a:cubicBezTo>
                  <a:lnTo>
                    <a:pt x="81280" y="1714500"/>
                  </a:lnTo>
                  <a:cubicBezTo>
                    <a:pt x="59723" y="1714500"/>
                    <a:pt x="39049" y="1705937"/>
                    <a:pt x="23806" y="1690694"/>
                  </a:cubicBezTo>
                  <a:cubicBezTo>
                    <a:pt x="8563" y="1675451"/>
                    <a:pt x="0" y="1654777"/>
                    <a:pt x="0" y="16332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7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REDIS LOCK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SET NX + TTL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01000" y="7219950"/>
            <a:ext cx="2095500" cy="0"/>
          </a:xfrm>
          <a:prstGeom prst="line">
            <a:avLst/>
          </a:prstGeom>
          <a:ln cap="flat" w="47625">
            <a:solidFill>
              <a:srgbClr val="FF6B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287000" y="6572250"/>
            <a:ext cx="2381250" cy="1285875"/>
            <a:chOff x="0" y="0"/>
            <a:chExt cx="3175000" cy="171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633220"/>
                  </a:lnTo>
                  <a:cubicBezTo>
                    <a:pt x="3175000" y="1654777"/>
                    <a:pt x="3166437" y="1675451"/>
                    <a:pt x="3151194" y="1690694"/>
                  </a:cubicBezTo>
                  <a:cubicBezTo>
                    <a:pt x="3135951" y="1705937"/>
                    <a:pt x="3115277" y="1714500"/>
                    <a:pt x="3093720" y="1714500"/>
                  </a:cubicBezTo>
                  <a:lnTo>
                    <a:pt x="81280" y="1714500"/>
                  </a:lnTo>
                  <a:cubicBezTo>
                    <a:pt x="59723" y="1714500"/>
                    <a:pt x="39049" y="1705937"/>
                    <a:pt x="23806" y="1690694"/>
                  </a:cubicBezTo>
                  <a:cubicBezTo>
                    <a:pt x="8563" y="1675451"/>
                    <a:pt x="0" y="1654777"/>
                    <a:pt x="0" y="16332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17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WEBSOCKET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BROADCAST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668250" y="7219950"/>
            <a:ext cx="2095500" cy="0"/>
          </a:xfrm>
          <a:prstGeom prst="line">
            <a:avLst/>
          </a:prstGeom>
          <a:ln cap="flat" w="47625">
            <a:solidFill>
              <a:srgbClr val="FF6B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4954250" y="6572250"/>
            <a:ext cx="2381250" cy="1285875"/>
            <a:chOff x="0" y="0"/>
            <a:chExt cx="3175000" cy="171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7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633220"/>
                  </a:lnTo>
                  <a:cubicBezTo>
                    <a:pt x="3175000" y="1654777"/>
                    <a:pt x="3166437" y="1675451"/>
                    <a:pt x="3151194" y="1690694"/>
                  </a:cubicBezTo>
                  <a:cubicBezTo>
                    <a:pt x="3135951" y="1705937"/>
                    <a:pt x="3115277" y="1714500"/>
                    <a:pt x="3093720" y="1714500"/>
                  </a:cubicBezTo>
                  <a:lnTo>
                    <a:pt x="81280" y="1714500"/>
                  </a:lnTo>
                  <a:cubicBezTo>
                    <a:pt x="59723" y="1714500"/>
                    <a:pt x="39049" y="1705937"/>
                    <a:pt x="23806" y="1690694"/>
                  </a:cubicBezTo>
                  <a:cubicBezTo>
                    <a:pt x="8563" y="1675451"/>
                    <a:pt x="0" y="1654777"/>
                    <a:pt x="0" y="16332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7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NGƯỜI DÙNG B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REDIS LOCK + WEBSOCKET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05  /  THANH TOÁN &amp; VÉ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104775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Thanh toán xác thực.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Vé phát hành tự động.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3590925"/>
            <a:ext cx="109537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Chữ ký số bảo vệ request · IPN Webhook xác nhận bất đồng bộ · sandbox mô phỏng phản hồi trễ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6191250"/>
            <a:ext cx="2667000" cy="1285875"/>
            <a:chOff x="0" y="0"/>
            <a:chExt cx="3556000" cy="1714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641929"/>
                  </a:lnTo>
                  <a:cubicBezTo>
                    <a:pt x="3556000" y="1661176"/>
                    <a:pt x="3548354" y="1679634"/>
                    <a:pt x="3534744" y="1693244"/>
                  </a:cubicBezTo>
                  <a:cubicBezTo>
                    <a:pt x="3521135" y="1706854"/>
                    <a:pt x="3502676" y="1714500"/>
                    <a:pt x="3483428" y="1714500"/>
                  </a:cubicBezTo>
                  <a:lnTo>
                    <a:pt x="72571" y="1714500"/>
                  </a:lnTo>
                  <a:cubicBezTo>
                    <a:pt x="53324" y="1714500"/>
                    <a:pt x="34865" y="1706854"/>
                    <a:pt x="21256" y="1693244"/>
                  </a:cubicBezTo>
                  <a:cubicBezTo>
                    <a:pt x="7646" y="1679634"/>
                    <a:pt x="0" y="1661176"/>
                    <a:pt x="0" y="16419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5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CHỌN MoMo / VNPay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581400" y="6838950"/>
            <a:ext cx="523875" cy="0"/>
          </a:xfrm>
          <a:prstGeom prst="line">
            <a:avLst/>
          </a:prstGeom>
          <a:ln cap="flat" w="47625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248150" y="6191250"/>
            <a:ext cx="2667000" cy="1285875"/>
            <a:chOff x="0" y="0"/>
            <a:chExt cx="3556000" cy="1714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641929"/>
                  </a:lnTo>
                  <a:cubicBezTo>
                    <a:pt x="3556000" y="1661176"/>
                    <a:pt x="3548354" y="1679634"/>
                    <a:pt x="3534744" y="1693244"/>
                  </a:cubicBezTo>
                  <a:cubicBezTo>
                    <a:pt x="3521135" y="1706854"/>
                    <a:pt x="3502676" y="1714500"/>
                    <a:pt x="3483428" y="1714500"/>
                  </a:cubicBezTo>
                  <a:lnTo>
                    <a:pt x="72571" y="1714500"/>
                  </a:lnTo>
                  <a:cubicBezTo>
                    <a:pt x="53324" y="1714500"/>
                    <a:pt x="34865" y="1706854"/>
                    <a:pt x="21256" y="1693244"/>
                  </a:cubicBezTo>
                  <a:cubicBezTo>
                    <a:pt x="7646" y="1679634"/>
                    <a:pt x="0" y="1661176"/>
                    <a:pt x="0" y="16419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5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KÝ REQUEST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915150" y="6838950"/>
            <a:ext cx="523875" cy="0"/>
          </a:xfrm>
          <a:prstGeom prst="line">
            <a:avLst/>
          </a:prstGeom>
          <a:ln cap="flat" w="47625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581900" y="6191250"/>
            <a:ext cx="2667000" cy="1285875"/>
            <a:chOff x="0" y="0"/>
            <a:chExt cx="3556000" cy="171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641929"/>
                  </a:lnTo>
                  <a:cubicBezTo>
                    <a:pt x="3556000" y="1661176"/>
                    <a:pt x="3548354" y="1679634"/>
                    <a:pt x="3534744" y="1693244"/>
                  </a:cubicBezTo>
                  <a:cubicBezTo>
                    <a:pt x="3521135" y="1706854"/>
                    <a:pt x="3502676" y="1714500"/>
                    <a:pt x="3483428" y="1714500"/>
                  </a:cubicBezTo>
                  <a:lnTo>
                    <a:pt x="72571" y="1714500"/>
                  </a:lnTo>
                  <a:cubicBezTo>
                    <a:pt x="53324" y="1714500"/>
                    <a:pt x="34865" y="1706854"/>
                    <a:pt x="21256" y="1693244"/>
                  </a:cubicBezTo>
                  <a:cubicBezTo>
                    <a:pt x="7646" y="1679634"/>
                    <a:pt x="0" y="1661176"/>
                    <a:pt x="0" y="16419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55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CHUYỂN HƯỚNG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248900" y="6838950"/>
            <a:ext cx="523875" cy="0"/>
          </a:xfrm>
          <a:prstGeom prst="line">
            <a:avLst/>
          </a:prstGeom>
          <a:ln cap="flat" w="47625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915650" y="6191250"/>
            <a:ext cx="2667000" cy="1285875"/>
            <a:chOff x="0" y="0"/>
            <a:chExt cx="3556000" cy="1714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641929"/>
                  </a:lnTo>
                  <a:cubicBezTo>
                    <a:pt x="3556000" y="1661176"/>
                    <a:pt x="3548354" y="1679634"/>
                    <a:pt x="3534744" y="1693244"/>
                  </a:cubicBezTo>
                  <a:cubicBezTo>
                    <a:pt x="3521135" y="1706854"/>
                    <a:pt x="3502676" y="1714500"/>
                    <a:pt x="3483428" y="1714500"/>
                  </a:cubicBezTo>
                  <a:lnTo>
                    <a:pt x="72571" y="1714500"/>
                  </a:lnTo>
                  <a:cubicBezTo>
                    <a:pt x="53324" y="1714500"/>
                    <a:pt x="34865" y="1706854"/>
                    <a:pt x="21256" y="1693244"/>
                  </a:cubicBezTo>
                  <a:cubicBezTo>
                    <a:pt x="7646" y="1679634"/>
                    <a:pt x="0" y="1661176"/>
                    <a:pt x="0" y="16419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5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IPN WEBHOOK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582650" y="6838950"/>
            <a:ext cx="523875" cy="0"/>
          </a:xfrm>
          <a:prstGeom prst="line">
            <a:avLst/>
          </a:prstGeom>
          <a:ln cap="flat" w="47625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249400" y="6191250"/>
            <a:ext cx="2667000" cy="1285875"/>
            <a:chOff x="0" y="0"/>
            <a:chExt cx="3556000" cy="1714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6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641929"/>
                  </a:lnTo>
                  <a:cubicBezTo>
                    <a:pt x="3556000" y="1661176"/>
                    <a:pt x="3548354" y="1679634"/>
                    <a:pt x="3534744" y="1693244"/>
                  </a:cubicBezTo>
                  <a:cubicBezTo>
                    <a:pt x="3521135" y="1706854"/>
                    <a:pt x="3502676" y="1714500"/>
                    <a:pt x="3483428" y="1714500"/>
                  </a:cubicBezTo>
                  <a:lnTo>
                    <a:pt x="72571" y="1714500"/>
                  </a:lnTo>
                  <a:cubicBezTo>
                    <a:pt x="53324" y="1714500"/>
                    <a:pt x="34865" y="1706854"/>
                    <a:pt x="21256" y="1693244"/>
                  </a:cubicBezTo>
                  <a:cubicBezTo>
                    <a:pt x="7646" y="1679634"/>
                    <a:pt x="0" y="1661176"/>
                    <a:pt x="0" y="16419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556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TẠO VÉ QR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PAYMENT PIPELINE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06  /  KHẢO SÁT ĐỐI THỦ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52550"/>
            <a:ext cx="8858250" cy="111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420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Khác biệt nằm ở</a:t>
            </a:r>
          </a:p>
          <a:p>
            <a:pPr algn="l">
              <a:lnSpc>
                <a:spcPts val="4284"/>
              </a:lnSpc>
            </a:pPr>
            <a:r>
              <a:rPr lang="en-US" sz="420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khoảnh khắc ghế đổi trạng thái.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5734050"/>
            <a:ext cx="314325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5:00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7305675"/>
            <a:ext cx="49530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đếm ngược rõ ràng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02C"/>
                </a:solidFill>
                <a:latin typeface="Be Vietnam"/>
                <a:ea typeface="Be Vietnam"/>
                <a:cs typeface="Be Vietnam"/>
                <a:sym typeface="Be Vietnam"/>
              </a:rPr>
              <a:t>+ cập nhật không cần F5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50512" y="836745"/>
            <a:ext cx="10740227" cy="832776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BENCHMARK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07  /  CON NGƯỜI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28750"/>
            <a:ext cx="85725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Đội đa chức năng,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khách hàng duy nhất.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0" y="1390650"/>
            <a:ext cx="285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PERSONA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0" y="2190750"/>
            <a:ext cx="61912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Moviegoer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16—35 tuổi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0" y="4162425"/>
            <a:ext cx="638175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Quen smartphone · thanh toán online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Không muốn F5 · sợ mất ghế · cần mua nhanh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5905500"/>
            <a:ext cx="3238500" cy="1047750"/>
            <a:chOff x="0" y="0"/>
            <a:chExt cx="4318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337235"/>
                  </a:lnTo>
                  <a:cubicBezTo>
                    <a:pt x="4318000" y="1353086"/>
                    <a:pt x="4311703" y="1368287"/>
                    <a:pt x="4300495" y="1379495"/>
                  </a:cubicBezTo>
                  <a:cubicBezTo>
                    <a:pt x="4289287" y="1390703"/>
                    <a:pt x="4274086" y="1397000"/>
                    <a:pt x="4258235" y="1397000"/>
                  </a:cubicBezTo>
                  <a:lnTo>
                    <a:pt x="59765" y="1397000"/>
                  </a:lnTo>
                  <a:cubicBezTo>
                    <a:pt x="43914" y="1397000"/>
                    <a:pt x="28713" y="1390703"/>
                    <a:pt x="17505" y="1379495"/>
                  </a:cubicBezTo>
                  <a:cubicBezTo>
                    <a:pt x="6297" y="1368287"/>
                    <a:pt x="0" y="1353086"/>
                    <a:pt x="0" y="1337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SCRUM MASTER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67250" y="5905500"/>
            <a:ext cx="3238500" cy="1047750"/>
            <a:chOff x="0" y="0"/>
            <a:chExt cx="4318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337235"/>
                  </a:lnTo>
                  <a:cubicBezTo>
                    <a:pt x="4318000" y="1353086"/>
                    <a:pt x="4311703" y="1368287"/>
                    <a:pt x="4300495" y="1379495"/>
                  </a:cubicBezTo>
                  <a:cubicBezTo>
                    <a:pt x="4289287" y="1390703"/>
                    <a:pt x="4274086" y="1397000"/>
                    <a:pt x="4258235" y="1397000"/>
                  </a:cubicBezTo>
                  <a:lnTo>
                    <a:pt x="59765" y="1397000"/>
                  </a:lnTo>
                  <a:cubicBezTo>
                    <a:pt x="43914" y="1397000"/>
                    <a:pt x="28713" y="1390703"/>
                    <a:pt x="17505" y="1379495"/>
                  </a:cubicBezTo>
                  <a:cubicBezTo>
                    <a:pt x="6297" y="1368287"/>
                    <a:pt x="0" y="1353086"/>
                    <a:pt x="0" y="1337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BACKEND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7334250"/>
            <a:ext cx="3238500" cy="1047750"/>
            <a:chOff x="0" y="0"/>
            <a:chExt cx="4318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337235"/>
                  </a:lnTo>
                  <a:cubicBezTo>
                    <a:pt x="4318000" y="1353086"/>
                    <a:pt x="4311703" y="1368287"/>
                    <a:pt x="4300495" y="1379495"/>
                  </a:cubicBezTo>
                  <a:cubicBezTo>
                    <a:pt x="4289287" y="1390703"/>
                    <a:pt x="4274086" y="1397000"/>
                    <a:pt x="4258235" y="1397000"/>
                  </a:cubicBezTo>
                  <a:lnTo>
                    <a:pt x="59765" y="1397000"/>
                  </a:lnTo>
                  <a:cubicBezTo>
                    <a:pt x="43914" y="1397000"/>
                    <a:pt x="28713" y="1390703"/>
                    <a:pt x="17505" y="1379495"/>
                  </a:cubicBezTo>
                  <a:cubicBezTo>
                    <a:pt x="6297" y="1368287"/>
                    <a:pt x="0" y="1353086"/>
                    <a:pt x="0" y="1337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FRONTEND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67250" y="7334250"/>
            <a:ext cx="3238500" cy="1047750"/>
            <a:chOff x="0" y="0"/>
            <a:chExt cx="4318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318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337235"/>
                  </a:lnTo>
                  <a:cubicBezTo>
                    <a:pt x="4318000" y="1353086"/>
                    <a:pt x="4311703" y="1368287"/>
                    <a:pt x="4300495" y="1379495"/>
                  </a:cubicBezTo>
                  <a:cubicBezTo>
                    <a:pt x="4289287" y="1390703"/>
                    <a:pt x="4274086" y="1397000"/>
                    <a:pt x="4258235" y="1397000"/>
                  </a:cubicBezTo>
                  <a:lnTo>
                    <a:pt x="59765" y="1397000"/>
                  </a:lnTo>
                  <a:cubicBezTo>
                    <a:pt x="43914" y="1397000"/>
                    <a:pt x="28713" y="1390703"/>
                    <a:pt x="17505" y="1379495"/>
                  </a:cubicBezTo>
                  <a:cubicBezTo>
                    <a:pt x="6297" y="1368287"/>
                    <a:pt x="0" y="1353086"/>
                    <a:pt x="0" y="1337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31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08182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QA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48750" y="1238250"/>
            <a:ext cx="28575" cy="7334250"/>
            <a:chOff x="0" y="0"/>
            <a:chExt cx="38100" cy="977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" cy="9779000"/>
            </a:xfrm>
            <a:custGeom>
              <a:avLst/>
              <a:gdLst/>
              <a:ahLst/>
              <a:cxnLst/>
              <a:rect r="r" b="b" t="t" l="l"/>
              <a:pathLst>
                <a:path h="9779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9779000"/>
                  </a:lnTo>
                  <a:lnTo>
                    <a:pt x="0" y="9779000"/>
                  </a:ln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100" cy="981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EBAC2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TEAM + PERSONA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08  /  PRODUCT BACKLOG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62075"/>
            <a:ext cx="9525000" cy="12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sz="4725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Ưu tiên theo giá trị.</a:t>
            </a:r>
          </a:p>
          <a:p>
            <a:pPr algn="l">
              <a:lnSpc>
                <a:spcPts val="4819"/>
              </a:lnSpc>
            </a:pPr>
            <a:r>
              <a:rPr lang="en-US" sz="4725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Hoàn thành theo chuẩn chung.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857750"/>
            <a:ext cx="2952750" cy="2286000"/>
            <a:chOff x="0" y="0"/>
            <a:chExt cx="3937000" cy="3048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937000" cy="3048000"/>
              <a:chOff x="0" y="0"/>
              <a:chExt cx="3937000" cy="3048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937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937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04800" y="342900"/>
              <a:ext cx="3429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XEM SƠ ĐỒ GHẾ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04800" y="1711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 SP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48150" y="4857750"/>
            <a:ext cx="2952750" cy="2286000"/>
            <a:chOff x="0" y="0"/>
            <a:chExt cx="3937000" cy="3048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937000" cy="3048000"/>
              <a:chOff x="0" y="0"/>
              <a:chExt cx="3937000" cy="3048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937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937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04800" y="342900"/>
              <a:ext cx="3429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GIỮ GHẾ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04800" y="1711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 SP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81900" y="4857750"/>
            <a:ext cx="2952750" cy="2286000"/>
            <a:chOff x="0" y="0"/>
            <a:chExt cx="3937000" cy="3048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937000" cy="3048000"/>
              <a:chOff x="0" y="0"/>
              <a:chExt cx="3937000" cy="3048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937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937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4800" y="342900"/>
              <a:ext cx="3429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HÓA ĐƠN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04800" y="1711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 SP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15650" y="4857750"/>
            <a:ext cx="2952750" cy="2286000"/>
            <a:chOff x="0" y="0"/>
            <a:chExt cx="3937000" cy="3048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937000" cy="3048000"/>
              <a:chOff x="0" y="0"/>
              <a:chExt cx="3937000" cy="304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937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937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04800" y="342900"/>
              <a:ext cx="3429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MoMo / VNPay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04800" y="1711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 SP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49400" y="4857750"/>
            <a:ext cx="2952750" cy="2286000"/>
            <a:chOff x="0" y="0"/>
            <a:chExt cx="3937000" cy="3048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937000" cy="3048000"/>
              <a:chOff x="0" y="0"/>
              <a:chExt cx="3937000" cy="3048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937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3937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04800" y="342900"/>
              <a:ext cx="3429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NHẬN VÉ TỰ ĐỘNG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04800" y="1711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 SP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62000" y="8096250"/>
            <a:ext cx="16764000" cy="857250"/>
            <a:chOff x="0" y="0"/>
            <a:chExt cx="22352000" cy="1143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2352000" cy="1143000"/>
              <a:chOff x="0" y="0"/>
              <a:chExt cx="22352000" cy="1143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2352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22352000">
                    <a:moveTo>
                      <a:pt x="0" y="0"/>
                    </a:moveTo>
                    <a:lnTo>
                      <a:pt x="22352000" y="0"/>
                    </a:lnTo>
                    <a:lnTo>
                      <a:pt x="22352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0818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2352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203200" y="342900"/>
              <a:ext cx="219456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DEFINITION OF DONE  →  Pass linter  ·  Code review  ·  Chạy trên máy khác  ·  Đạt Acceptance Criteria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BACKLOG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09  /  SPRINT 1  ·  15/07—29/07/2026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114300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21 Story Points.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Một seat map chạy trên hai máy.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5810250"/>
            <a:ext cx="2571750" cy="1143000"/>
            <a:chOff x="0" y="0"/>
            <a:chExt cx="3429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KHỞI TẠO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524250" y="6381750"/>
            <a:ext cx="619125" cy="0"/>
          </a:xfrm>
          <a:prstGeom prst="line">
            <a:avLst/>
          </a:prstGeom>
          <a:ln cap="flat" w="38100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238625" y="5810250"/>
            <a:ext cx="2571750" cy="1143000"/>
            <a:chOff x="0" y="0"/>
            <a:chExt cx="3429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LỊCH CHIẾU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810375" y="6381750"/>
            <a:ext cx="619125" cy="0"/>
          </a:xfrm>
          <a:prstGeom prst="line">
            <a:avLst/>
          </a:prstGeom>
          <a:ln cap="flat" w="38100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524750" y="5810250"/>
            <a:ext cx="2571750" cy="1143000"/>
            <a:chOff x="0" y="0"/>
            <a:chExt cx="3429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SEAT MAP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096500" y="6381750"/>
            <a:ext cx="619125" cy="0"/>
          </a:xfrm>
          <a:prstGeom prst="line">
            <a:avLst/>
          </a:prstGeom>
          <a:ln cap="flat" w="38100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810875" y="5810250"/>
            <a:ext cx="2571750" cy="1143000"/>
            <a:chOff x="0" y="0"/>
            <a:chExt cx="3429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LOCK 5 PHÚT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382625" y="6381750"/>
            <a:ext cx="619125" cy="0"/>
          </a:xfrm>
          <a:prstGeom prst="line">
            <a:avLst/>
          </a:prstGeom>
          <a:ln cap="flat" w="38100">
            <a:solidFill>
              <a:srgbClr val="37D6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097000" y="5810250"/>
            <a:ext cx="2571750" cy="1143000"/>
            <a:chOff x="0" y="0"/>
            <a:chExt cx="3429000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ĐỒNG BỘ 2 MÁY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2000" y="8096250"/>
            <a:ext cx="16764000" cy="952500"/>
            <a:chOff x="0" y="0"/>
            <a:chExt cx="22352000" cy="127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35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352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4400" y="8343900"/>
            <a:ext cx="16383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RETRO  →  + Redis Lock ổn định   /   − setup môi trường, JSON lỗi   /   Δ chuẩn hóa cấu hình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SPRINT 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10  /  SPRINT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100012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Từ click “Thanh toán”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đến vé QR end-to-end.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25500" y="809625"/>
            <a:ext cx="28575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25500" y="2676525"/>
            <a:ext cx="285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STORY POINTS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62000" y="5143500"/>
            <a:ext cx="3524250" cy="2381250"/>
            <a:chOff x="0" y="0"/>
            <a:chExt cx="4699000" cy="317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699000" cy="3175000"/>
              <a:chOff x="0" y="0"/>
              <a:chExt cx="4699000" cy="317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699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699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4000" y="304800"/>
              <a:ext cx="1143000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74"/>
                </a:lnSpc>
              </a:pPr>
              <a:r>
                <a:rPr lang="en-US" sz="4125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54000" y="1514475"/>
              <a:ext cx="4191000" cy="83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GỌI API</a:t>
              </a:r>
            </a:p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CHUYỂN HƯỚNG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05375" y="5143500"/>
            <a:ext cx="3524250" cy="2381250"/>
            <a:chOff x="0" y="0"/>
            <a:chExt cx="4699000" cy="3175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699000" cy="3175000"/>
              <a:chOff x="0" y="0"/>
              <a:chExt cx="4699000" cy="317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699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699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54000" y="304800"/>
              <a:ext cx="1143000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74"/>
                </a:lnSpc>
              </a:pPr>
              <a:r>
                <a:rPr lang="en-US" sz="4125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000" y="1514475"/>
              <a:ext cx="4191000" cy="83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NHẬN IPN</a:t>
              </a:r>
            </a:p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WEBHOOK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48750" y="5143500"/>
            <a:ext cx="3524250" cy="2381250"/>
            <a:chOff x="0" y="0"/>
            <a:chExt cx="4699000" cy="317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699000" cy="3175000"/>
              <a:chOff x="0" y="0"/>
              <a:chExt cx="4699000" cy="317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699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699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304800"/>
              <a:ext cx="1143000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74"/>
                </a:lnSpc>
              </a:pPr>
              <a:r>
                <a:rPr lang="en-US" sz="4125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4000" y="1514475"/>
              <a:ext cx="4191000" cy="83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XỬ LÝ PHẢN HỒI</a:t>
              </a:r>
            </a:p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TRỄ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192125" y="5143500"/>
            <a:ext cx="3524250" cy="2381250"/>
            <a:chOff x="0" y="0"/>
            <a:chExt cx="4699000" cy="3175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699000" cy="3175000"/>
              <a:chOff x="0" y="0"/>
              <a:chExt cx="4699000" cy="3175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699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4699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000" y="304800"/>
              <a:ext cx="1143000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74"/>
                </a:lnSpc>
              </a:pPr>
              <a:r>
                <a:rPr lang="en-US" sz="4125" b="true">
                  <a:solidFill>
                    <a:srgbClr val="FF6B5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54000" y="1514475"/>
              <a:ext cx="4191000" cy="83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SINH QR</a:t>
              </a:r>
            </a:p>
            <a:p>
              <a:pPr algn="l">
                <a:lnSpc>
                  <a:spcPts val="2531"/>
                </a:lnSpc>
              </a:pPr>
              <a:r>
                <a:rPr lang="en-US" sz="2025" b="true">
                  <a:solidFill>
                    <a:srgbClr val="10202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BẢO MẬT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SPRINT 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11  /  QUẢN LÝ TIẾN ĐỘ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09700"/>
            <a:ext cx="8096250" cy="114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Daily Scrum giữ</a:t>
            </a:r>
          </a:p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đường đua không trật nhịp.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5981700"/>
            <a:ext cx="542925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5"/>
              </a:lnSpc>
            </a:pPr>
            <a:r>
              <a:rPr lang="en-US" sz="10875" b="true">
                <a:solidFill>
                  <a:srgbClr val="37D6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7781925"/>
            <a:ext cx="57150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Story Points Sprint 1 hoàn thành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17162" y="969873"/>
            <a:ext cx="9892675" cy="815675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EBAC2"/>
                </a:solidFill>
                <a:latin typeface="Be Vietnam"/>
                <a:ea typeface="Be Vietnam"/>
                <a:cs typeface="Be Vietnam"/>
                <a:sym typeface="Be Vietnam"/>
              </a:rPr>
              <a:t>TRELLO · CURRENT SPRINT / IN PROGRESS / ON HOLD / DONE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12  /  KẾT QUẢ &amp; BÀI HỌC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104775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Concurrency ổn định.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020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Quy trình trưởng thành hơn.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667250"/>
            <a:ext cx="5143500" cy="3714750"/>
            <a:chOff x="0" y="0"/>
            <a:chExt cx="6858000" cy="495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58000" cy="4953000"/>
              <a:chOff x="0" y="0"/>
              <a:chExt cx="6858000" cy="495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58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858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57200" y="342900"/>
              <a:ext cx="6096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ĐẠT ĐƯỢC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57200" y="1339850"/>
              <a:ext cx="5969000" cy="147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Luồng đặt vé mượt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Lock ghế đúng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Phối hợp bug hiệu quả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34150" y="4667250"/>
            <a:ext cx="5143500" cy="3714750"/>
            <a:chOff x="0" y="0"/>
            <a:chExt cx="6858000" cy="495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858000" cy="4953000"/>
              <a:chOff x="0" y="0"/>
              <a:chExt cx="6858000" cy="495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858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858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57200" y="342900"/>
              <a:ext cx="6096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HỌC ĐƯỢC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57200" y="1339850"/>
              <a:ext cx="5969000" cy="147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Estimate thêm rủi ro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Daily phát hiện lỗi sớm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0202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SHA256 cần test sớm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53900" y="4667250"/>
            <a:ext cx="5143500" cy="3714750"/>
            <a:chOff x="0" y="0"/>
            <a:chExt cx="6858000" cy="495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58000" cy="4953000"/>
              <a:chOff x="0" y="0"/>
              <a:chExt cx="6858000" cy="495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858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0818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858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7200" y="342900"/>
              <a:ext cx="6096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FF6B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SPRINT 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57200" y="1339850"/>
              <a:ext cx="5969000" cy="147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Admin Dashboard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Báo cáo doanh thu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FFFFFF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Combo Bắp / Nước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6737B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KẾT QUẢ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81826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13  /  TÀI LIỆU &amp; NGUỒN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524000"/>
            <a:ext cx="819150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Nguồn mở.</a:t>
            </a:r>
          </a:p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Quyết định có dấu vết.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0" y="1428750"/>
            <a:ext cx="28575" cy="6667500"/>
            <a:chOff x="0" y="0"/>
            <a:chExt cx="38100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6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01250" y="1552575"/>
            <a:ext cx="6667500" cy="153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TÀI LIỆU CHÍNH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Redis Documentation · Martin Fowler — Concurrency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Scrum Guide 2020 · MoMo Developer Docs</a:t>
            </a:r>
          </a:p>
          <a:p>
            <a:pPr algn="l">
              <a:lnSpc>
                <a:spcPts val="3138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VNPay API Docs · OWASP API Security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676900"/>
            <a:ext cx="428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FF6B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GITHUB SOURCE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6276975"/>
            <a:ext cx="7620000" cy="88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37D6A2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github.com/Thuantran520/</a:t>
            </a:r>
          </a:p>
          <a:p>
            <a:pPr algn="l">
              <a:lnSpc>
                <a:spcPts val="3562"/>
              </a:lnSpc>
            </a:pPr>
            <a:r>
              <a:rPr lang="en-US" sz="2850" b="true">
                <a:solidFill>
                  <a:srgbClr val="37D6A2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website-mua-ve-xem-phim.git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0" y="6638925"/>
            <a:ext cx="6667500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20 tài liệu chuyên ngành · Trello/Jira board · biên bản họp · nhật ký quyết định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20750" y="8791575"/>
            <a:ext cx="32385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25"/>
              </a:lnSpc>
            </a:pPr>
            <a:r>
              <a:rPr lang="en-US" sz="3375" b="true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CẢM ƠN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969645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EBAC2"/>
                </a:solidFill>
                <a:latin typeface="Be Vietnam"/>
                <a:ea typeface="Be Vietnam"/>
                <a:cs typeface="Be Vietnam"/>
                <a:sym typeface="Be Vietnam"/>
              </a:rPr>
              <a:t>AGILE CINEMA · NHÓM 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478000" y="9829800"/>
            <a:ext cx="2895600" cy="28575"/>
            <a:chOff x="0" y="0"/>
            <a:chExt cx="38608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60800" cy="38100"/>
            </a:xfrm>
            <a:custGeom>
              <a:avLst/>
              <a:gdLst/>
              <a:ahLst/>
              <a:cxnLst/>
              <a:rect r="r" b="b" t="t" l="l"/>
              <a:pathLst>
                <a:path h="38100" w="3860800">
                  <a:moveTo>
                    <a:pt x="0" y="0"/>
                  </a:moveTo>
                  <a:lnTo>
                    <a:pt x="3860800" y="0"/>
                  </a:lnTo>
                  <a:lnTo>
                    <a:pt x="3860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7D6A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608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DAHVLkh-DlM</dc:identifier>
  <dcterms:modified xsi:type="dcterms:W3CDTF">2011-08-01T06:04:30Z</dcterms:modified>
  <cp:revision>1</cp:revision>
  <dc:title>GVHD: TS Trần Sơn Hải · Lớp 23BITV01 · Nhóm 9 — 04 thành viên</dc:title>
</cp:coreProperties>
</file>